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72C4-3AA0-8294-0979-F2492D6BE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BFA5E-9DB3-C072-FBF5-B9A9D852B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1E53E-9D68-332C-0E68-63BBD538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7283E-BBE7-8B1E-F6B5-99AB1683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C617D-FF6D-BD38-AF2D-DC68EBC0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8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81A3-5982-4EA3-164C-FEC3C59F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5E7F-1401-8862-539F-D620BCEFA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F98E8-37AA-8A43-6255-43132801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2A9E7-4FD7-7FFF-2379-A6E214EE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3C1E1-62B4-97BB-DC0F-BC3F36C5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8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2F21-EE20-2D59-F8C9-EAD38BBD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F6018-F18B-FF41-F61C-726D41CF5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946E7-6FD3-D542-1116-B8D9468C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4403-9D7E-9574-0A9F-75DBA1D7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1FF47-B565-3B53-D51F-B635BDB3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9EB6-6B03-1E69-1FAC-76D93A39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3491-3426-8F31-343A-3C5A187B6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FFD4F-E392-F89B-5543-D6D99532C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04583-50E6-31FF-13D4-4DF4B34E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B6BB8-83C4-5B42-4835-FDF9CDFD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39144-1087-576D-0B48-820B58B8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1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0FD1-51AB-9909-375E-1A02EF23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DE4AA-FDC9-FAA1-0712-AD3CD4D33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CD840-3D34-5D56-223C-D56AE04E5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307EF-7283-0512-7CBD-825B10452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453CD-FEDA-A970-D154-164395ACE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51EA0-5DBD-5B7A-2241-1129660E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A3E59-FBC4-7CE0-77A2-832C545B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72457-0635-E970-3284-3742DD2A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0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E129-B898-0E53-3D91-B78DE9EF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6F7FC-4502-5109-2458-BE20490E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DE74C-A2FC-5CF0-2A6F-FB2AB025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9399D-741D-CCF4-8DE6-1D2678C4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3F52A-32E4-F436-A728-1B2EF4CA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07BF9-6F6E-B058-230B-12E17B47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4A9B9-3B5D-7E06-6065-D8AD7184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3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0317-D4EB-06B5-2298-FA613EF0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C47BF-6439-5EA0-1ACD-50678E433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955DC-3408-5CB7-FBF0-0498541E6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72496-A570-FDDD-BB40-A56D1D8F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03255-2194-53E8-D10B-B9E7D7A3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60F20-5E1C-1064-FE57-645A04EA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2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66F1-DF8E-8EBB-15E4-08F68586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FD4DF-AF2C-4C35-4D0A-5FADD0AB6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DEB31-EE70-CF17-E2FB-5D8E3F78D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B98CB-9FC1-FD3C-0B2D-AD4A6FE9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04B5F-C33C-112C-A4A7-C67F88B8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02DFC-6DEC-E5BD-11B6-16675F06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1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654D-2621-898C-E336-872780DB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14E1F-5273-C572-7EC3-632D4403D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C7468-5600-E7B2-AA56-1F6CBFA2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5FA2E-DBBF-ED7E-445B-D1F68DB8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D4DC-F308-AC95-E820-B538C014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0978-F5F3-52D0-4F60-FF00FB741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515B3-8F3F-4983-A716-3D541AC63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B502D-CB19-B92A-B30D-5542C146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5A394-9D6D-9DCA-C290-1BEDC7C2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85998-0D11-81C4-8D71-C26ADA2A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7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714AD-4A7A-B098-A471-BCB0E589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4C4B0-E559-EA71-2FB3-CD01E1B95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9A27B-EF56-D3F0-8DC2-3E329D98D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9DD38-F3DE-C847-8D98-D41336499B6B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821A5-E2C2-DD1B-0F00-7E771A714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4BBDF-B236-2C36-EA9B-565C91101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40416-5E7B-2640-804C-CEEDD42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762EE-C96D-42DA-5190-2B4DACD9D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CORRELATION AND REGRESSION ANALYSIS PRESENTATION</a:t>
            </a:r>
            <a:br>
              <a:rPr lang="en-US" sz="4200"/>
            </a:br>
            <a:r>
              <a:rPr lang="en-US" sz="4200"/>
              <a:t>Delta Airlines Month 4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9FAE9-48C8-B8B7-CE13-A15AA6E63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124" y="4872922"/>
            <a:ext cx="5013698" cy="1208141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BY Misheck Malangano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A white airplane flying in the sky&#10;&#10;Description automatically generated">
            <a:extLst>
              <a:ext uri="{FF2B5EF4-FFF2-40B4-BE49-F238E27FC236}">
                <a16:creationId xmlns:a16="http://schemas.microsoft.com/office/drawing/2014/main" id="{24629A4E-5F6F-0652-5E93-BD9B36E8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625682"/>
            <a:ext cx="5130651" cy="321905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blue and white sign with white text&#10;&#10;Description automatically generated">
            <a:extLst>
              <a:ext uri="{FF2B5EF4-FFF2-40B4-BE49-F238E27FC236}">
                <a16:creationId xmlns:a16="http://schemas.microsoft.com/office/drawing/2014/main" id="{BB72588A-E07E-C996-E70B-752F61E57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246" y="4310168"/>
            <a:ext cx="4708833" cy="135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1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4109E4-EF57-760E-B58B-8BBFB1C2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dirty="0"/>
              <a:t>STATISTICS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 descr="A table with numbers and text&#10;&#10;Description automatically generated">
            <a:extLst>
              <a:ext uri="{FF2B5EF4-FFF2-40B4-BE49-F238E27FC236}">
                <a16:creationId xmlns:a16="http://schemas.microsoft.com/office/drawing/2014/main" id="{F2D33C34-E244-C4DF-77A4-EC7D8BB454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95736" y="2590650"/>
            <a:ext cx="5828261" cy="2702735"/>
          </a:xfrm>
          <a:prstGeom prst="rect">
            <a:avLst/>
          </a:prstGeom>
        </p:spPr>
      </p:pic>
      <p:pic>
        <p:nvPicPr>
          <p:cNvPr id="10" name="Content Placeholder 9" descr="A screenshot of a graph&#10;&#10;Description automatically generated">
            <a:extLst>
              <a:ext uri="{FF2B5EF4-FFF2-40B4-BE49-F238E27FC236}">
                <a16:creationId xmlns:a16="http://schemas.microsoft.com/office/drawing/2014/main" id="{0FE4AAE2-7901-EF7C-69E0-4AAC5524EB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4475" y="2454106"/>
            <a:ext cx="5828261" cy="312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65B070-0C44-E759-0597-CE0A9C40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4000" kern="1200" baseline="30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Correlation Table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D7C523-CE3C-A8FF-7207-39079C80D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23418"/>
              </p:ext>
            </p:extLst>
          </p:nvPr>
        </p:nvGraphicFramePr>
        <p:xfrm>
          <a:off x="385572" y="1929449"/>
          <a:ext cx="11420864" cy="451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898">
                  <a:extLst>
                    <a:ext uri="{9D8B030D-6E8A-4147-A177-3AD203B41FA5}">
                      <a16:colId xmlns:a16="http://schemas.microsoft.com/office/drawing/2014/main" val="4048663193"/>
                    </a:ext>
                  </a:extLst>
                </a:gridCol>
                <a:gridCol w="1401190">
                  <a:extLst>
                    <a:ext uri="{9D8B030D-6E8A-4147-A177-3AD203B41FA5}">
                      <a16:colId xmlns:a16="http://schemas.microsoft.com/office/drawing/2014/main" val="3269865693"/>
                    </a:ext>
                  </a:extLst>
                </a:gridCol>
                <a:gridCol w="683247">
                  <a:extLst>
                    <a:ext uri="{9D8B030D-6E8A-4147-A177-3AD203B41FA5}">
                      <a16:colId xmlns:a16="http://schemas.microsoft.com/office/drawing/2014/main" val="1710001454"/>
                    </a:ext>
                  </a:extLst>
                </a:gridCol>
                <a:gridCol w="568484">
                  <a:extLst>
                    <a:ext uri="{9D8B030D-6E8A-4147-A177-3AD203B41FA5}">
                      <a16:colId xmlns:a16="http://schemas.microsoft.com/office/drawing/2014/main" val="1227540638"/>
                    </a:ext>
                  </a:extLst>
                </a:gridCol>
                <a:gridCol w="657759">
                  <a:extLst>
                    <a:ext uri="{9D8B030D-6E8A-4147-A177-3AD203B41FA5}">
                      <a16:colId xmlns:a16="http://schemas.microsoft.com/office/drawing/2014/main" val="741702916"/>
                    </a:ext>
                  </a:extLst>
                </a:gridCol>
                <a:gridCol w="568484">
                  <a:extLst>
                    <a:ext uri="{9D8B030D-6E8A-4147-A177-3AD203B41FA5}">
                      <a16:colId xmlns:a16="http://schemas.microsoft.com/office/drawing/2014/main" val="986554955"/>
                    </a:ext>
                  </a:extLst>
                </a:gridCol>
                <a:gridCol w="570226">
                  <a:extLst>
                    <a:ext uri="{9D8B030D-6E8A-4147-A177-3AD203B41FA5}">
                      <a16:colId xmlns:a16="http://schemas.microsoft.com/office/drawing/2014/main" val="2687684869"/>
                    </a:ext>
                  </a:extLst>
                </a:gridCol>
                <a:gridCol w="616380">
                  <a:extLst>
                    <a:ext uri="{9D8B030D-6E8A-4147-A177-3AD203B41FA5}">
                      <a16:colId xmlns:a16="http://schemas.microsoft.com/office/drawing/2014/main" val="1246927191"/>
                    </a:ext>
                  </a:extLst>
                </a:gridCol>
                <a:gridCol w="568484">
                  <a:extLst>
                    <a:ext uri="{9D8B030D-6E8A-4147-A177-3AD203B41FA5}">
                      <a16:colId xmlns:a16="http://schemas.microsoft.com/office/drawing/2014/main" val="4181709835"/>
                    </a:ext>
                  </a:extLst>
                </a:gridCol>
                <a:gridCol w="736626">
                  <a:extLst>
                    <a:ext uri="{9D8B030D-6E8A-4147-A177-3AD203B41FA5}">
                      <a16:colId xmlns:a16="http://schemas.microsoft.com/office/drawing/2014/main" val="3722547717"/>
                    </a:ext>
                  </a:extLst>
                </a:gridCol>
                <a:gridCol w="728620">
                  <a:extLst>
                    <a:ext uri="{9D8B030D-6E8A-4147-A177-3AD203B41FA5}">
                      <a16:colId xmlns:a16="http://schemas.microsoft.com/office/drawing/2014/main" val="1491900383"/>
                    </a:ext>
                  </a:extLst>
                </a:gridCol>
                <a:gridCol w="762800">
                  <a:extLst>
                    <a:ext uri="{9D8B030D-6E8A-4147-A177-3AD203B41FA5}">
                      <a16:colId xmlns:a16="http://schemas.microsoft.com/office/drawing/2014/main" val="491221927"/>
                    </a:ext>
                  </a:extLst>
                </a:gridCol>
                <a:gridCol w="863066">
                  <a:extLst>
                    <a:ext uri="{9D8B030D-6E8A-4147-A177-3AD203B41FA5}">
                      <a16:colId xmlns:a16="http://schemas.microsoft.com/office/drawing/2014/main" val="3027368150"/>
                    </a:ext>
                  </a:extLst>
                </a:gridCol>
                <a:gridCol w="622746">
                  <a:extLst>
                    <a:ext uri="{9D8B030D-6E8A-4147-A177-3AD203B41FA5}">
                      <a16:colId xmlns:a16="http://schemas.microsoft.com/office/drawing/2014/main" val="292195819"/>
                    </a:ext>
                  </a:extLst>
                </a:gridCol>
                <a:gridCol w="1015854">
                  <a:extLst>
                    <a:ext uri="{9D8B030D-6E8A-4147-A177-3AD203B41FA5}">
                      <a16:colId xmlns:a16="http://schemas.microsoft.com/office/drawing/2014/main" val="337760239"/>
                    </a:ext>
                  </a:extLst>
                </a:gridCol>
              </a:tblGrid>
              <a:tr h="303865">
                <a:tc gridSpan="15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Correlations</a:t>
                      </a:r>
                      <a:endParaRPr lang="en-US" sz="1200" b="1" i="0" u="none" strike="noStrike" dirty="0">
                        <a:solidFill>
                          <a:srgbClr val="993300"/>
                        </a:solidFill>
                        <a:effectLst/>
                        <a:latin typeface="Arial Bold"/>
                      </a:endParaRPr>
                    </a:p>
                  </a:txBody>
                  <a:tcPr marL="8027" marR="8027" marT="8027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016679"/>
                  </a:ext>
                </a:extLst>
              </a:tr>
              <a:tr h="263147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DepTime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ArrTime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FlightNum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AirTime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ArrDelay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DepDelay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Distance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TaxiIn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TaxiOut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CarrierDelay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WeatherDelay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NASDelay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LateAircraftDelay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 anchor="b"/>
                </a:tc>
                <a:extLst>
                  <a:ext uri="{0D108BD9-81ED-4DB2-BD59-A6C34878D82A}">
                    <a16:rowId xmlns:a16="http://schemas.microsoft.com/office/drawing/2014/main" val="542412254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DepTime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.402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-.054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-.024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.097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1819956499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ArrTime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.402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-.088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1735912402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FlightNum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-.191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-0.004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-.192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-.119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-.027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2589845057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AirTime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-.191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-.023</a:t>
                      </a:r>
                      <a:r>
                        <a:rPr lang="en-US" sz="1000" u="none" strike="noStrike" baseline="30000" dirty="0">
                          <a:effectLst/>
                        </a:rPr>
                        <a:t>*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.980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3890461795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ArrDelay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.951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.204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.580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.110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.287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.565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4192252967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DepDelay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-.023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.951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-.023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.022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.605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.111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.122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.579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815266846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Distance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-.054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-.192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.980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-.023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.054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4263524846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TaxiIn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-.024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-.119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.054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-.033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.195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.030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346828936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TaxiOut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.097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.204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 dirty="0">
                          <a:effectLst/>
                        </a:rPr>
                        <a:t>.022</a:t>
                      </a:r>
                      <a:r>
                        <a:rPr lang="en-US" sz="1000" u="none" strike="noStrike" baseline="30000" dirty="0">
                          <a:effectLst/>
                        </a:rPr>
                        <a:t>*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-.066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.382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-.027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3633066282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CarrierDelay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-.088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-.027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.580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.605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-.066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-.120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-.165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2668047893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WeatherDelay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-.094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.110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.111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-.033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-.048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2480008438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NASDelay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.287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.122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-.046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.195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.382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-.120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-.026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571477375"/>
                  </a:ext>
                </a:extLst>
              </a:tr>
              <a:tr h="26314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LateAircraftDelay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Pearson Correlation</a:t>
                      </a:r>
                      <a:endParaRPr lang="en-US" sz="10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.103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-.071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-0.012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.565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.579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.030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-.027</a:t>
                      </a:r>
                      <a:r>
                        <a:rPr lang="en-US" sz="1000" u="none" strike="noStrike" baseline="30000">
                          <a:effectLst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-.165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0.006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-.091</a:t>
                      </a:r>
                      <a:r>
                        <a:rPr lang="en-US" sz="1000" u="none" strike="noStrike" baseline="30000">
                          <a:effectLst/>
                        </a:rPr>
                        <a:t>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extLst>
                  <a:ext uri="{0D108BD9-81ED-4DB2-BD59-A6C34878D82A}">
                    <a16:rowId xmlns:a16="http://schemas.microsoft.com/office/drawing/2014/main" val="2490270555"/>
                  </a:ext>
                </a:extLst>
              </a:tr>
              <a:tr h="263147">
                <a:tc gridSpan="15"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**. Correlation is significant at the 0.01 level (2-tailed).</a:t>
                      </a:r>
                      <a:endParaRPr lang="en-US" sz="10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73424"/>
                  </a:ext>
                </a:extLst>
              </a:tr>
              <a:tr h="263147">
                <a:tc gridSpan="15"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*. Correlation is significant at the 0.05 level (2-tailed).</a:t>
                      </a:r>
                      <a:endParaRPr lang="en-US" sz="10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7" marR="8027" marT="8027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255288"/>
                  </a:ext>
                </a:extLst>
              </a:tr>
            </a:tbl>
          </a:graphicData>
        </a:graphic>
      </p:graphicFrame>
      <p:sp>
        <p:nvSpPr>
          <p:cNvPr id="3" name="Frame 2">
            <a:extLst>
              <a:ext uri="{FF2B5EF4-FFF2-40B4-BE49-F238E27FC236}">
                <a16:creationId xmlns:a16="http://schemas.microsoft.com/office/drawing/2014/main" id="{E775C711-2613-6277-B236-640DBA32A1A0}"/>
              </a:ext>
            </a:extLst>
          </p:cNvPr>
          <p:cNvSpPr/>
          <p:nvPr/>
        </p:nvSpPr>
        <p:spPr>
          <a:xfrm>
            <a:off x="4833257" y="4001984"/>
            <a:ext cx="498764" cy="308759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F6885258-1C72-73BE-38FA-858FE13DB518}"/>
              </a:ext>
            </a:extLst>
          </p:cNvPr>
          <p:cNvSpPr/>
          <p:nvPr/>
        </p:nvSpPr>
        <p:spPr>
          <a:xfrm>
            <a:off x="6096000" y="3483757"/>
            <a:ext cx="435429" cy="316348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99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483A0-C825-BCBF-5B42-96B599AF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89" y="405575"/>
            <a:ext cx="9346715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MODIFIED CORRELATION TABLE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BDB093F-3ED6-1FA7-C995-A8F774826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418868"/>
              </p:ext>
            </p:extLst>
          </p:nvPr>
        </p:nvGraphicFramePr>
        <p:xfrm>
          <a:off x="549058" y="1978724"/>
          <a:ext cx="11097354" cy="457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746">
                  <a:extLst>
                    <a:ext uri="{9D8B030D-6E8A-4147-A177-3AD203B41FA5}">
                      <a16:colId xmlns:a16="http://schemas.microsoft.com/office/drawing/2014/main" val="1896085867"/>
                    </a:ext>
                  </a:extLst>
                </a:gridCol>
                <a:gridCol w="1485674">
                  <a:extLst>
                    <a:ext uri="{9D8B030D-6E8A-4147-A177-3AD203B41FA5}">
                      <a16:colId xmlns:a16="http://schemas.microsoft.com/office/drawing/2014/main" val="3411456919"/>
                    </a:ext>
                  </a:extLst>
                </a:gridCol>
                <a:gridCol w="749152">
                  <a:extLst>
                    <a:ext uri="{9D8B030D-6E8A-4147-A177-3AD203B41FA5}">
                      <a16:colId xmlns:a16="http://schemas.microsoft.com/office/drawing/2014/main" val="990746700"/>
                    </a:ext>
                  </a:extLst>
                </a:gridCol>
                <a:gridCol w="674224">
                  <a:extLst>
                    <a:ext uri="{9D8B030D-6E8A-4147-A177-3AD203B41FA5}">
                      <a16:colId xmlns:a16="http://schemas.microsoft.com/office/drawing/2014/main" val="1649251755"/>
                    </a:ext>
                  </a:extLst>
                </a:gridCol>
                <a:gridCol w="723644">
                  <a:extLst>
                    <a:ext uri="{9D8B030D-6E8A-4147-A177-3AD203B41FA5}">
                      <a16:colId xmlns:a16="http://schemas.microsoft.com/office/drawing/2014/main" val="2954793649"/>
                    </a:ext>
                  </a:extLst>
                </a:gridCol>
                <a:gridCol w="723643">
                  <a:extLst>
                    <a:ext uri="{9D8B030D-6E8A-4147-A177-3AD203B41FA5}">
                      <a16:colId xmlns:a16="http://schemas.microsoft.com/office/drawing/2014/main" val="2954300948"/>
                    </a:ext>
                  </a:extLst>
                </a:gridCol>
                <a:gridCol w="557847">
                  <a:extLst>
                    <a:ext uri="{9D8B030D-6E8A-4147-A177-3AD203B41FA5}">
                      <a16:colId xmlns:a16="http://schemas.microsoft.com/office/drawing/2014/main" val="3170326419"/>
                    </a:ext>
                  </a:extLst>
                </a:gridCol>
                <a:gridCol w="666253">
                  <a:extLst>
                    <a:ext uri="{9D8B030D-6E8A-4147-A177-3AD203B41FA5}">
                      <a16:colId xmlns:a16="http://schemas.microsoft.com/office/drawing/2014/main" val="2911595453"/>
                    </a:ext>
                  </a:extLst>
                </a:gridCol>
                <a:gridCol w="985094">
                  <a:extLst>
                    <a:ext uri="{9D8B030D-6E8A-4147-A177-3AD203B41FA5}">
                      <a16:colId xmlns:a16="http://schemas.microsoft.com/office/drawing/2014/main" val="4281923816"/>
                    </a:ext>
                  </a:extLst>
                </a:gridCol>
                <a:gridCol w="1096687">
                  <a:extLst>
                    <a:ext uri="{9D8B030D-6E8A-4147-A177-3AD203B41FA5}">
                      <a16:colId xmlns:a16="http://schemas.microsoft.com/office/drawing/2014/main" val="2349047277"/>
                    </a:ext>
                  </a:extLst>
                </a:gridCol>
                <a:gridCol w="833644">
                  <a:extLst>
                    <a:ext uri="{9D8B030D-6E8A-4147-A177-3AD203B41FA5}">
                      <a16:colId xmlns:a16="http://schemas.microsoft.com/office/drawing/2014/main" val="1028061669"/>
                    </a:ext>
                  </a:extLst>
                </a:gridCol>
                <a:gridCol w="1300746">
                  <a:extLst>
                    <a:ext uri="{9D8B030D-6E8A-4147-A177-3AD203B41FA5}">
                      <a16:colId xmlns:a16="http://schemas.microsoft.com/office/drawing/2014/main" val="1308117092"/>
                    </a:ext>
                  </a:extLst>
                </a:gridCol>
              </a:tblGrid>
              <a:tr h="36679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Correlations</a:t>
                      </a:r>
                      <a:endParaRPr lang="en-US" sz="1400" b="1" i="0" u="none" strike="noStrike" dirty="0">
                        <a:solidFill>
                          <a:srgbClr val="993300"/>
                        </a:solidFill>
                        <a:effectLst/>
                        <a:latin typeface="Arial Bold"/>
                      </a:endParaRPr>
                    </a:p>
                  </a:txBody>
                  <a:tcPr marL="9343" marR="9343" marT="93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05248"/>
                  </a:ext>
                </a:extLst>
              </a:tr>
              <a:tr h="323668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DepTime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ArrTime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ArrDelay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Distance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TaxiIn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TaxiOut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CarrierDelay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WeatherDelay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NASDelay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LateAircraftDelay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 anchor="b"/>
                </a:tc>
                <a:extLst>
                  <a:ext uri="{0D108BD9-81ED-4DB2-BD59-A6C34878D82A}">
                    <a16:rowId xmlns:a16="http://schemas.microsoft.com/office/drawing/2014/main" val="2208018968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DepTime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.402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.102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-.054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-.024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.097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.103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2701455734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ArrTime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.402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-.093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.031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.046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-.088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-.071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185230294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ArrDelay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.102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-.093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-.072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.109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.204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.580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.110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.287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.565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3290013249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Distance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-.054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-.072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.054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4049513832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TaxiIn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-.024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.031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.109</a:t>
                      </a:r>
                      <a:r>
                        <a:rPr lang="en-US" sz="1200" u="none" strike="noStrike" baseline="30000" dirty="0">
                          <a:effectLst/>
                        </a:rPr>
                        <a:t>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.054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-.026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-.033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.195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.030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884107736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TaxiOut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.097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.046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.204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-.026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-.066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.382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-.027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565732253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CarrierDelay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-.088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.580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-.066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-.048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-.120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-.165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187679887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WeatherDelay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-.094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.110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-0.024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-.033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-.048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-.026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2333593132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NASDelay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.287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-.046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.195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.382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-.120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-.026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735577735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LateAircraftDelay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Pearson Correlation</a:t>
                      </a:r>
                      <a:endParaRPr lang="en-US" sz="1200" b="0" i="0" u="none" strike="noStrike">
                        <a:solidFill>
                          <a:srgbClr val="33339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.103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-.071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.565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.030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-.027</a:t>
                      </a:r>
                      <a:r>
                        <a:rPr lang="en-US" sz="1200" u="none" strike="noStrike" baseline="30000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-.165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0.006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-.091</a:t>
                      </a:r>
                      <a:r>
                        <a:rPr lang="en-US" sz="1200" u="none" strike="noStrike" baseline="30000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extLst>
                  <a:ext uri="{0D108BD9-81ED-4DB2-BD59-A6C34878D82A}">
                    <a16:rowId xmlns:a16="http://schemas.microsoft.com/office/drawing/2014/main" val="1038657194"/>
                  </a:ext>
                </a:extLst>
              </a:tr>
              <a:tr h="323668">
                <a:tc gridSpan="12"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**. Correlation is significant at the 0.01 level (2-tailed).</a:t>
                      </a:r>
                      <a:endParaRPr lang="en-US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38121"/>
                  </a:ext>
                </a:extLst>
              </a:tr>
              <a:tr h="323668">
                <a:tc gridSpan="12"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*. Correlation is significant at the 0.05 level (2-tailed).</a:t>
                      </a:r>
                      <a:endParaRPr lang="en-US" sz="1200" b="0" i="0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" marR="9343" marT="934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425356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1BCCA-2FBD-39DA-E3D9-E975E286A425}"/>
              </a:ext>
            </a:extLst>
          </p:cNvPr>
          <p:cNvCxnSpPr>
            <a:cxnSpLocks/>
          </p:cNvCxnSpPr>
          <p:nvPr/>
        </p:nvCxnSpPr>
        <p:spPr>
          <a:xfrm>
            <a:off x="3914775" y="2786063"/>
            <a:ext cx="7533038" cy="3234727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ame 18">
            <a:extLst>
              <a:ext uri="{FF2B5EF4-FFF2-40B4-BE49-F238E27FC236}">
                <a16:creationId xmlns:a16="http://schemas.microsoft.com/office/drawing/2014/main" id="{34F6323C-D127-8950-03E8-7E58D7C59D70}"/>
              </a:ext>
            </a:extLst>
          </p:cNvPr>
          <p:cNvSpPr/>
          <p:nvPr/>
        </p:nvSpPr>
        <p:spPr>
          <a:xfrm>
            <a:off x="4892634" y="3918857"/>
            <a:ext cx="605641" cy="46313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ame 19">
            <a:extLst>
              <a:ext uri="{FF2B5EF4-FFF2-40B4-BE49-F238E27FC236}">
                <a16:creationId xmlns:a16="http://schemas.microsoft.com/office/drawing/2014/main" id="{F4C2CC29-B92A-BAD1-69E0-64D471E2A77C}"/>
              </a:ext>
            </a:extLst>
          </p:cNvPr>
          <p:cNvSpPr/>
          <p:nvPr/>
        </p:nvSpPr>
        <p:spPr>
          <a:xfrm>
            <a:off x="6208816" y="3197431"/>
            <a:ext cx="605641" cy="46313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06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3399D-7AC8-3BD8-029A-6FCA1EFD9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CHOICES MADE FOR REGRESSION ANALYSIS</a:t>
            </a:r>
          </a:p>
        </p:txBody>
      </p:sp>
      <p:pic>
        <p:nvPicPr>
          <p:cNvPr id="14" name="Content Placeholder 13" descr="A screenshot of a computer&#10;&#10;Description automatically generated">
            <a:extLst>
              <a:ext uri="{FF2B5EF4-FFF2-40B4-BE49-F238E27FC236}">
                <a16:creationId xmlns:a16="http://schemas.microsoft.com/office/drawing/2014/main" id="{2B002627-6C20-CB95-8DB1-C871107E3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32753"/>
            <a:ext cx="6780700" cy="519016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0D2FA1-585D-DEBE-001A-375189F1AA28}"/>
              </a:ext>
            </a:extLst>
          </p:cNvPr>
          <p:cNvCxnSpPr/>
          <p:nvPr/>
        </p:nvCxnSpPr>
        <p:spPr>
          <a:xfrm flipH="1">
            <a:off x="5925787" y="961901"/>
            <a:ext cx="161504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FE0079-95EC-7FC3-7834-38B428395477}"/>
              </a:ext>
            </a:extLst>
          </p:cNvPr>
          <p:cNvCxnSpPr/>
          <p:nvPr/>
        </p:nvCxnSpPr>
        <p:spPr>
          <a:xfrm flipH="1">
            <a:off x="8845138" y="2919350"/>
            <a:ext cx="161504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2B3A93-6AF1-2AA3-F42E-97696EB31E06}"/>
              </a:ext>
            </a:extLst>
          </p:cNvPr>
          <p:cNvCxnSpPr>
            <a:cxnSpLocks/>
          </p:cNvCxnSpPr>
          <p:nvPr/>
        </p:nvCxnSpPr>
        <p:spPr>
          <a:xfrm flipH="1">
            <a:off x="8712530" y="1114301"/>
            <a:ext cx="1191491" cy="2929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BA0634-2BBD-161E-92D9-6D0B6E84A7DA}"/>
              </a:ext>
            </a:extLst>
          </p:cNvPr>
          <p:cNvCxnSpPr>
            <a:cxnSpLocks/>
          </p:cNvCxnSpPr>
          <p:nvPr/>
        </p:nvCxnSpPr>
        <p:spPr>
          <a:xfrm flipH="1" flipV="1">
            <a:off x="10022774" y="4334494"/>
            <a:ext cx="1535242" cy="3621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38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C75DC-E32B-A376-4618-68ABAE45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66" y="222265"/>
            <a:ext cx="9566145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REGRESSION ANALYSIS</a:t>
            </a:r>
            <a:b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Dependent Variable: Arrival Delay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4CEFBC-7087-A471-235C-7207AAA0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66" y="5719215"/>
            <a:ext cx="10852009" cy="1138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In this regression, we successfully explained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97.7%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of the variance in the dependent variable,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Arrival Delay.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0744A4-23D8-9939-966B-E165ED918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019592"/>
              </p:ext>
            </p:extLst>
          </p:nvPr>
        </p:nvGraphicFramePr>
        <p:xfrm>
          <a:off x="835166" y="1951854"/>
          <a:ext cx="10515572" cy="360202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704098">
                  <a:extLst>
                    <a:ext uri="{9D8B030D-6E8A-4147-A177-3AD203B41FA5}">
                      <a16:colId xmlns:a16="http://schemas.microsoft.com/office/drawing/2014/main" val="2244797930"/>
                    </a:ext>
                  </a:extLst>
                </a:gridCol>
                <a:gridCol w="1528840">
                  <a:extLst>
                    <a:ext uri="{9D8B030D-6E8A-4147-A177-3AD203B41FA5}">
                      <a16:colId xmlns:a16="http://schemas.microsoft.com/office/drawing/2014/main" val="1132847175"/>
                    </a:ext>
                  </a:extLst>
                </a:gridCol>
                <a:gridCol w="1899734">
                  <a:extLst>
                    <a:ext uri="{9D8B030D-6E8A-4147-A177-3AD203B41FA5}">
                      <a16:colId xmlns:a16="http://schemas.microsoft.com/office/drawing/2014/main" val="265433192"/>
                    </a:ext>
                  </a:extLst>
                </a:gridCol>
                <a:gridCol w="2572234">
                  <a:extLst>
                    <a:ext uri="{9D8B030D-6E8A-4147-A177-3AD203B41FA5}">
                      <a16:colId xmlns:a16="http://schemas.microsoft.com/office/drawing/2014/main" val="263752837"/>
                    </a:ext>
                  </a:extLst>
                </a:gridCol>
                <a:gridCol w="2810666">
                  <a:extLst>
                    <a:ext uri="{9D8B030D-6E8A-4147-A177-3AD203B41FA5}">
                      <a16:colId xmlns:a16="http://schemas.microsoft.com/office/drawing/2014/main" val="2536901015"/>
                    </a:ext>
                  </a:extLst>
                </a:gridCol>
              </a:tblGrid>
              <a:tr h="740558">
                <a:tc gridSpan="5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b="0" cap="none" spc="0" dirty="0">
                          <a:solidFill>
                            <a:schemeClr val="bg1"/>
                          </a:solidFill>
                          <a:effectLst/>
                        </a:rPr>
                        <a:t>Model Summary</a:t>
                      </a:r>
                      <a:endParaRPr lang="en-US" sz="3100" b="0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612122"/>
                  </a:ext>
                </a:extLst>
              </a:tr>
              <a:tr h="1001407"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R Square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Adjusted R</a:t>
                      </a: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1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 Square</a:t>
                      </a:r>
                      <a:endParaRPr lang="en-US" sz="3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Std. Error of</a:t>
                      </a: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1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 the Estimate</a:t>
                      </a:r>
                      <a:endParaRPr lang="en-US" sz="3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33987"/>
                  </a:ext>
                </a:extLst>
              </a:tr>
              <a:tr h="740558"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.988</a:t>
                      </a:r>
                      <a:r>
                        <a:rPr lang="en-US" sz="3100" cap="none" spc="0" baseline="300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.977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.977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9.020</a:t>
                      </a:r>
                      <a:endParaRPr lang="en-US" sz="3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40726"/>
                  </a:ext>
                </a:extLst>
              </a:tr>
              <a:tr h="1001407">
                <a:tc gridSpan="5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c. Predictors: (Constant), Carrier Delay, Late Aircraft Delay,</a:t>
                      </a: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  <a:effectLst/>
                        </a:rPr>
                        <a:t> NAS Delay</a:t>
                      </a:r>
                      <a:endParaRPr lang="en-US" sz="3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8507" marR="0" marT="198852" marB="19885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023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02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41405-F789-217C-E3F5-90AC9F9B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4" y="552906"/>
            <a:ext cx="8760107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ANOVA TABLE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B97177F-6DD4-726B-E8F2-C893CB2CD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67" y="5293581"/>
            <a:ext cx="10232648" cy="10115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Based on the ANOVA, the regression demonstrates a linear relationship between the variables, significant at the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 0.001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level.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8C68695-8A89-5955-0027-E460EE7F2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828354"/>
              </p:ext>
            </p:extLst>
          </p:nvPr>
        </p:nvGraphicFramePr>
        <p:xfrm>
          <a:off x="835155" y="1924037"/>
          <a:ext cx="10515570" cy="337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873">
                  <a:extLst>
                    <a:ext uri="{9D8B030D-6E8A-4147-A177-3AD203B41FA5}">
                      <a16:colId xmlns:a16="http://schemas.microsoft.com/office/drawing/2014/main" val="362315968"/>
                    </a:ext>
                  </a:extLst>
                </a:gridCol>
                <a:gridCol w="1755422">
                  <a:extLst>
                    <a:ext uri="{9D8B030D-6E8A-4147-A177-3AD203B41FA5}">
                      <a16:colId xmlns:a16="http://schemas.microsoft.com/office/drawing/2014/main" val="137155654"/>
                    </a:ext>
                  </a:extLst>
                </a:gridCol>
                <a:gridCol w="1961523">
                  <a:extLst>
                    <a:ext uri="{9D8B030D-6E8A-4147-A177-3AD203B41FA5}">
                      <a16:colId xmlns:a16="http://schemas.microsoft.com/office/drawing/2014/main" val="2433529037"/>
                    </a:ext>
                  </a:extLst>
                </a:gridCol>
                <a:gridCol w="1453606">
                  <a:extLst>
                    <a:ext uri="{9D8B030D-6E8A-4147-A177-3AD203B41FA5}">
                      <a16:colId xmlns:a16="http://schemas.microsoft.com/office/drawing/2014/main" val="4137365022"/>
                    </a:ext>
                  </a:extLst>
                </a:gridCol>
                <a:gridCol w="1820046">
                  <a:extLst>
                    <a:ext uri="{9D8B030D-6E8A-4147-A177-3AD203B41FA5}">
                      <a16:colId xmlns:a16="http://schemas.microsoft.com/office/drawing/2014/main" val="1314108466"/>
                    </a:ext>
                  </a:extLst>
                </a:gridCol>
                <a:gridCol w="1537091">
                  <a:extLst>
                    <a:ext uri="{9D8B030D-6E8A-4147-A177-3AD203B41FA5}">
                      <a16:colId xmlns:a16="http://schemas.microsoft.com/office/drawing/2014/main" val="3961994060"/>
                    </a:ext>
                  </a:extLst>
                </a:gridCol>
                <a:gridCol w="1221009">
                  <a:extLst>
                    <a:ext uri="{9D8B030D-6E8A-4147-A177-3AD203B41FA5}">
                      <a16:colId xmlns:a16="http://schemas.microsoft.com/office/drawing/2014/main" val="1996353702"/>
                    </a:ext>
                  </a:extLst>
                </a:gridCol>
              </a:tblGrid>
              <a:tr h="436099">
                <a:tc gridSpan="7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500" dirty="0">
                        <a:effectLst/>
                      </a:endParaRP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 err="1">
                          <a:effectLst/>
                        </a:rPr>
                        <a:t>ANOVA</a:t>
                      </a:r>
                      <a:r>
                        <a:rPr lang="en-US" sz="2500" baseline="30000" dirty="0" err="1">
                          <a:effectLst/>
                        </a:rPr>
                        <a:t>a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641034"/>
                  </a:ext>
                </a:extLst>
              </a:tr>
              <a:tr h="786824">
                <a:tc gridSpan="2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Model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Sum of Squares</a:t>
                      </a: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df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Mean Square</a:t>
                      </a:r>
                    </a:p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F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Sig.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22959423"/>
                  </a:ext>
                </a:extLst>
              </a:tr>
              <a:tr h="414734">
                <a:tc rowSpan="3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Regression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19987027.269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6662342.423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81893.011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&lt;.001</a:t>
                      </a:r>
                      <a:r>
                        <a:rPr lang="en-US" sz="2200" baseline="30000" dirty="0">
                          <a:effectLst/>
                        </a:rPr>
                        <a:t>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25915894"/>
                  </a:ext>
                </a:extLst>
              </a:tr>
              <a:tr h="4147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Residual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478281.485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5879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81.354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8378285"/>
                  </a:ext>
                </a:extLst>
              </a:tr>
              <a:tr h="4147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Total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20465308.754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5882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622836"/>
                  </a:ext>
                </a:extLst>
              </a:tr>
              <a:tr h="414734">
                <a:tc gridSpan="7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a. Dependent Variable: </a:t>
                      </a:r>
                      <a:r>
                        <a:rPr lang="en-US" sz="2200" dirty="0" err="1">
                          <a:effectLst/>
                        </a:rPr>
                        <a:t>Arr</a:t>
                      </a:r>
                      <a:r>
                        <a:rPr lang="en-US" sz="2200" dirty="0">
                          <a:effectLst/>
                        </a:rPr>
                        <a:t> Delay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64894"/>
                  </a:ext>
                </a:extLst>
              </a:tr>
              <a:tr h="414734">
                <a:tc gridSpan="7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d. Predictors: (Constant), Carrier Delay, Late Aircraft Delay, NAS Delay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14957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59DAB221-E31E-1249-6AB9-52A7108D1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421" y="-9456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3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5D21E-3518-E695-2E05-A5577F91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295" y="173765"/>
            <a:ext cx="8546351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COEFFICIENTS TABLE</a:t>
            </a:r>
            <a:b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Dependent Variable: Arrival Delay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6F877D6-115A-2045-F2F1-D4974F425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667" y="5698847"/>
            <a:ext cx="10216295" cy="9424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Final Regression equation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is: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Arrival Delay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= .754*Carrier Delay + 0.729* Late Aircraft Delay  + 0.444*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Nas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Delay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6795C7-DF9A-FC28-BD9D-AE231307B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212204"/>
              </p:ext>
            </p:extLst>
          </p:nvPr>
        </p:nvGraphicFramePr>
        <p:xfrm>
          <a:off x="1011667" y="1585752"/>
          <a:ext cx="9901315" cy="3896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90">
                  <a:extLst>
                    <a:ext uri="{9D8B030D-6E8A-4147-A177-3AD203B41FA5}">
                      <a16:colId xmlns:a16="http://schemas.microsoft.com/office/drawing/2014/main" val="320227272"/>
                    </a:ext>
                  </a:extLst>
                </a:gridCol>
                <a:gridCol w="2157568">
                  <a:extLst>
                    <a:ext uri="{9D8B030D-6E8A-4147-A177-3AD203B41FA5}">
                      <a16:colId xmlns:a16="http://schemas.microsoft.com/office/drawing/2014/main" val="3374394932"/>
                    </a:ext>
                  </a:extLst>
                </a:gridCol>
                <a:gridCol w="1396922">
                  <a:extLst>
                    <a:ext uri="{9D8B030D-6E8A-4147-A177-3AD203B41FA5}">
                      <a16:colId xmlns:a16="http://schemas.microsoft.com/office/drawing/2014/main" val="966252105"/>
                    </a:ext>
                  </a:extLst>
                </a:gridCol>
                <a:gridCol w="1610777">
                  <a:extLst>
                    <a:ext uri="{9D8B030D-6E8A-4147-A177-3AD203B41FA5}">
                      <a16:colId xmlns:a16="http://schemas.microsoft.com/office/drawing/2014/main" val="1282627678"/>
                    </a:ext>
                  </a:extLst>
                </a:gridCol>
                <a:gridCol w="1704830">
                  <a:extLst>
                    <a:ext uri="{9D8B030D-6E8A-4147-A177-3AD203B41FA5}">
                      <a16:colId xmlns:a16="http://schemas.microsoft.com/office/drawing/2014/main" val="2661062113"/>
                    </a:ext>
                  </a:extLst>
                </a:gridCol>
                <a:gridCol w="1190367">
                  <a:extLst>
                    <a:ext uri="{9D8B030D-6E8A-4147-A177-3AD203B41FA5}">
                      <a16:colId xmlns:a16="http://schemas.microsoft.com/office/drawing/2014/main" val="1373317844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3188671300"/>
                    </a:ext>
                  </a:extLst>
                </a:gridCol>
              </a:tblGrid>
              <a:tr h="416960">
                <a:tc gridSpan="7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Coefficients</a:t>
                      </a:r>
                      <a:r>
                        <a:rPr lang="en-US" sz="2400" baseline="30000">
                          <a:effectLst/>
                        </a:rPr>
                        <a:t>a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77654"/>
                  </a:ext>
                </a:extLst>
              </a:tr>
              <a:tr h="749888">
                <a:tc rowSpan="2" gridSpan="2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Model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Unstandardized Coefficients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Standardized Coefficients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t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Sig.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40752892"/>
                  </a:ext>
                </a:extLst>
              </a:tr>
              <a:tr h="39653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B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Std. Error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Beta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441829"/>
                  </a:ext>
                </a:extLst>
              </a:tr>
              <a:tr h="396533">
                <a:tc rowSpan="4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3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(Constant)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1.558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.173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 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9.028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&lt;.001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30346841"/>
                  </a:ext>
                </a:extLst>
              </a:tr>
              <a:tr h="3965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Carrier Delay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.989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.003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.754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369.373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&lt;.001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5985835"/>
                  </a:ext>
                </a:extLst>
              </a:tr>
              <a:tr h="5230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Late Aircraft Delay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.999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.003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.729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358.456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&lt;.001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1898838"/>
                  </a:ext>
                </a:extLst>
              </a:tr>
              <a:tr h="3965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NAS Delay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.989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.005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.444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219.626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&lt;.001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4569164"/>
                  </a:ext>
                </a:extLst>
              </a:tr>
              <a:tr h="396533">
                <a:tc gridSpan="7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</a:endParaRPr>
                    </a:p>
                    <a:p>
                      <a:pPr marL="38100" marR="381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a. Dependent Variable: Arrival Delay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92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03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7E53-AB2E-6698-9F73-8C27C1EF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MANAGERIAL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CC62-B759-91F7-4B68-18D8AD58F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Integrating new technology in the Reservation System. This will help in fast-tracking the booking process and the boarding process, hence reducing the Carrier Delay.</a:t>
            </a:r>
          </a:p>
          <a:p>
            <a:r>
              <a:rPr lang="en-US" dirty="0"/>
              <a:t>Investing in self-service product promotions to customers will increase self-check-in and fast-track the boarding process.</a:t>
            </a:r>
          </a:p>
          <a:p>
            <a:r>
              <a:rPr lang="en-US" dirty="0"/>
              <a:t>Increase the capacity of the airline company.  Hiring more staff to handle the travel processes.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7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5A61-6406-EEDC-71D7-24B0C110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9848-1B82-53D8-C351-35C7561C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4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1129</Words>
  <Application>Microsoft Macintosh PowerPoint</Application>
  <PresentationFormat>Widescreen</PresentationFormat>
  <Paragraphs>494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Bold</vt:lpstr>
      <vt:lpstr>Calibri</vt:lpstr>
      <vt:lpstr>Calibri Light</vt:lpstr>
      <vt:lpstr>Office Theme</vt:lpstr>
      <vt:lpstr>CORRELATION AND REGRESSION ANALYSIS PRESENTATION Delta Airlines Month 4 </vt:lpstr>
      <vt:lpstr>STATISTICS</vt:lpstr>
      <vt:lpstr>1st Correlation Table</vt:lpstr>
      <vt:lpstr>MODIFIED CORRELATION TABLE</vt:lpstr>
      <vt:lpstr>CHOICES MADE FOR REGRESSION ANALYSIS</vt:lpstr>
      <vt:lpstr>REGRESSION ANALYSIS Dependent Variable: Arrival Delay</vt:lpstr>
      <vt:lpstr>ANOVA TABLE</vt:lpstr>
      <vt:lpstr>COEFFICIENTS TABLE Dependent Variable: Arrival Delay</vt:lpstr>
      <vt:lpstr>MANAGERIAL IMPLICATIONS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AND REGRESSION ANALYSIS PRESENTATION Delta Airlines Month 4 </dc:title>
  <dc:creator>Misheck  Malangano</dc:creator>
  <cp:lastModifiedBy>Misheck  Malangano</cp:lastModifiedBy>
  <cp:revision>6</cp:revision>
  <dcterms:created xsi:type="dcterms:W3CDTF">2023-11-22T13:23:12Z</dcterms:created>
  <dcterms:modified xsi:type="dcterms:W3CDTF">2023-11-27T22:03:02Z</dcterms:modified>
</cp:coreProperties>
</file>