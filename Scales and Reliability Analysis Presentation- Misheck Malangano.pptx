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8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5"/>
    <p:restoredTop sz="94769"/>
  </p:normalViewPr>
  <p:slideViewPr>
    <p:cSldViewPr snapToGrid="0">
      <p:cViewPr varScale="1">
        <p:scale>
          <a:sx n="106" d="100"/>
          <a:sy n="106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9T21:25:5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24575,'30'8'0,"-21"-5"0,8 5 0,-26-4 0,5-4 0,-2 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348C-033C-14E5-FF06-EE53EA793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4A467-4D45-2D85-C1C2-606373B00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7CECB-769D-483C-EC38-4ED3C8F7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9D215-C0C7-3DC7-6A43-5C983A4A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D44C4-1EA2-51B8-C564-F3AAA838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6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A9AA-561E-348C-1C1B-5798697A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C1EE-AC90-B3CE-89A7-D9203430F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55272-2904-9CF4-584F-6B6AB349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0C30D-85BD-1DFA-2856-2EF5EA22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C388F-EDB9-C99D-C51A-ED4B043C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6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3CFE-3F7A-C89F-4B1E-ACB7C053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E9826-A1FB-7EF5-8718-FF35A8186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B405-C850-8C76-4744-97609423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3BEC-EBC8-B021-B77F-1CE0113E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423CB-8A12-925F-FB7E-309D16CE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1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9B0F-A05C-8B7F-9186-80008AC4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2259-3ED4-842D-A4C6-34FF0F9A7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88B85-4E42-78B5-2F13-E1968CEE3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E5D3A-E8AD-CF1B-64BE-652E43B1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66B10-A752-08C4-9C49-E111CDA4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8F266-B346-C9B5-EA10-E5BE212C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6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958E-A8DF-C787-945A-D13E0019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F05B9-2EE8-4F03-B817-DED16E422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40174-F1D5-14E1-2B07-BEAAA562B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D34C1-EA14-5049-F048-173D6F26D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CA8D9-A8D5-82B1-F01B-49001476A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408A07-F4F5-C04C-D305-33DD0140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325EC-1D91-B75A-577E-395073BB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BB2EE2-5EC2-5C31-247B-0365CBBD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02C11-70DD-4606-0C65-8EDC1029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28771-A9CD-AA22-F0A8-672ABD00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4F52A-EAC9-BCEF-DFD6-EA3A0683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76429-0AC4-3D7B-B20B-E36A99EB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7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612B72-0762-D529-247E-2DD640B1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FF10F-799C-4CF7-F47C-08307B37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107EA-3A5E-B88F-9DE6-FC5E203A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0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CEEE-C11B-DB9F-4AFB-203A12B0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BB29-0E3C-79D4-C185-D6FF8659C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934A5-1F36-2950-3173-C50ED5FC6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63467-9048-BEC5-8057-EE3B27BE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2C09F-FD5F-890F-19C5-374D40EC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99027-4FD2-0ADF-5E44-3A7559B7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2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3D82-EFF7-FE21-12EF-A13D4340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03819-465B-CB94-D172-918FBBFC6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A86CB-7189-148A-590D-3C7A2EC9A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BEA31-6897-3FF4-7044-FFCAA417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D6602-9FD7-EF4A-282F-35B91B55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03F0A-D192-2EB5-47A8-C6AF9C4F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49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85EF-3721-853D-CAE2-E5928D3E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73314-A8B2-41D7-A3CC-B9BF36D2A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3F42C-8DBE-E8A0-32CF-9E027029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CF889-B32A-D568-9ACB-F80E1481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D99DE-4086-8205-B3C7-39CB761F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7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C9BE9-5C1E-B698-7F5B-E147A3AE5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A165C-A597-79E6-C029-A9792429D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85FB9-86B0-A544-3CCE-CF5D7BE0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33146-A5C3-06D1-8357-CB396406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D40A4-6635-E6D8-96FF-ABEA9A85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8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8F02C-ECAC-A76E-A762-530B3AD3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6A907-9C68-FED4-DE5F-9EE53839F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A0FB3-0000-81B4-0BE1-1C08105FA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359C4-90E6-A54C-95F3-111DF841EA4D}" type="datetimeFigureOut">
              <a:rPr lang="en-US" smtClean="0"/>
              <a:t>10/11/23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621AA-D4E1-0E58-CB11-E61B1810C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93AE6-BE5C-80CB-27FF-622298F1C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E6289-241F-784F-8BA4-D1FA21D40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1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33F30-F8C4-0630-21E3-92260920E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691" y="582569"/>
            <a:ext cx="4227310" cy="356616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dirty="0"/>
              <a:t>SCALES AND RELIABILITY ANALYSIS PRESENTATION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4D824-FB68-205E-F960-DF9D9DCE4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By Misheck Malangano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digital balance scale using circles">
            <a:extLst>
              <a:ext uri="{FF2B5EF4-FFF2-40B4-BE49-F238E27FC236}">
                <a16:creationId xmlns:a16="http://schemas.microsoft.com/office/drawing/2014/main" id="{648E6ACA-CEF3-6C70-2565-57BC4CA9DA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67" r="18350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3849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AA95EC3-5FE7-2A6A-CEEB-27F0811D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9" y="639520"/>
            <a:ext cx="4614863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Constructs From</a:t>
            </a:r>
            <a:br>
              <a:rPr lang="en-US" sz="5400" dirty="0"/>
            </a:br>
            <a:r>
              <a:rPr lang="en-US" sz="5400" dirty="0"/>
              <a:t>Factor Analysis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76C7A1-8590-4C0A-521C-29C50400F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92608" indent="-264160" defTabSz="585216">
              <a:spcAft>
                <a:spcPts val="60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4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Life Goals Factor</a:t>
            </a:r>
          </a:p>
          <a:p>
            <a:pPr marL="292608" indent="-264160" defTabSz="585216">
              <a:spcAft>
                <a:spcPts val="60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4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Social Responsibility Factor</a:t>
            </a:r>
          </a:p>
          <a:p>
            <a:pPr marL="292608" indent="-264160" defTabSz="585216">
              <a:spcAft>
                <a:spcPts val="60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4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Stress Factor</a:t>
            </a:r>
          </a:p>
          <a:p>
            <a:pPr marL="292608" indent="-264160" defTabSz="585216">
              <a:spcAft>
                <a:spcPts val="60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4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Relationship Factor</a:t>
            </a:r>
          </a:p>
          <a:p>
            <a:pPr marL="292608" indent="-264160" defTabSz="585216">
              <a:spcAft>
                <a:spcPts val="60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4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Physical Health Factor</a:t>
            </a:r>
          </a:p>
          <a:p>
            <a:pPr marL="292608" indent="-264160" defTabSz="585216">
              <a:spcAft>
                <a:spcPts val="60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4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Relaxation Factor</a:t>
            </a:r>
            <a:endParaRPr lang="en-US" sz="3600" dirty="0">
              <a:solidFill>
                <a:schemeClr val="dk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48E043A-798C-0C68-8BD0-C0DF75EB93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6601" b="6601"/>
          <a:stretch/>
        </p:blipFill>
        <p:spPr>
          <a:xfrm>
            <a:off x="5186361" y="753820"/>
            <a:ext cx="6242304" cy="565587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05B7DA0-F656-1E44-0F07-DAAA3B63A156}"/>
                  </a:ext>
                </a:extLst>
              </p14:cNvPr>
              <p14:cNvContentPartPr/>
              <p14:nvPr/>
            </p14:nvContentPartPr>
            <p14:xfrm>
              <a:off x="9540777" y="2769063"/>
              <a:ext cx="20780" cy="9806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05B7DA0-F656-1E44-0F07-DAAA3B63A1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1663" y="2760308"/>
                <a:ext cx="38644" cy="269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658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0F7BA-5783-E506-FD72-B16D9F03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Scale 1: General Goals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5873B-FC86-F131-4EA9-29DBD7988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900" dirty="0"/>
              <a:t>Sample Size-  15972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900" dirty="0"/>
              <a:t>Cronbach’s Alpha measures how variables are correlated.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900" dirty="0"/>
              <a:t>Our Cronbach’s Alpha is 0.707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900" dirty="0"/>
              <a:t>A value of 0.7 or greater is Good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900" dirty="0"/>
              <a:t>Number of Items is 5</a:t>
            </a:r>
          </a:p>
          <a:p>
            <a:pPr marL="228600" indent="-457200">
              <a:buFont typeface="+mj-lt"/>
              <a:buAutoNum type="arabicPeriod"/>
            </a:pPr>
            <a:endParaRPr lang="en-US" sz="2200" dirty="0"/>
          </a:p>
        </p:txBody>
      </p:sp>
      <p:pic>
        <p:nvPicPr>
          <p:cNvPr id="6" name="Picture Placeholder 5" descr="A screenshot of a phone&#10;&#10;Description automatically generated">
            <a:extLst>
              <a:ext uri="{FF2B5EF4-FFF2-40B4-BE49-F238E27FC236}">
                <a16:creationId xmlns:a16="http://schemas.microsoft.com/office/drawing/2014/main" id="{2542C585-4239-3948-E17F-A24E72E9FD6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r="1" b="648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0F7BA-5783-E506-FD72-B16D9F03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016" y="468832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Item Statistics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5873B-FC86-F131-4EA9-29DBD7988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06156" y="2656736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/>
              <a:t>If we delete One Item from the variables Cronbach’s Alpha  would Decrease</a:t>
            </a:r>
          </a:p>
        </p:txBody>
      </p:sp>
      <p:pic>
        <p:nvPicPr>
          <p:cNvPr id="14" name="Picture 13" descr="A screenshot of a data analysis&#10;&#10;Description automatically generated">
            <a:extLst>
              <a:ext uri="{FF2B5EF4-FFF2-40B4-BE49-F238E27FC236}">
                <a16:creationId xmlns:a16="http://schemas.microsoft.com/office/drawing/2014/main" id="{89C75433-7682-BFAD-B958-E1E5AFCF2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4" y="855316"/>
            <a:ext cx="6903720" cy="549026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DFA75E-1725-1F1B-A0F4-5FBBE5D47A88}"/>
              </a:ext>
            </a:extLst>
          </p:cNvPr>
          <p:cNvCxnSpPr/>
          <p:nvPr/>
        </p:nvCxnSpPr>
        <p:spPr>
          <a:xfrm flipH="1">
            <a:off x="6972300" y="3429000"/>
            <a:ext cx="1156716" cy="10715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D06E56-FE22-C615-2C01-C71783859B34}"/>
              </a:ext>
            </a:extLst>
          </p:cNvPr>
          <p:cNvCxnSpPr>
            <a:cxnSpLocks/>
          </p:cNvCxnSpPr>
          <p:nvPr/>
        </p:nvCxnSpPr>
        <p:spPr>
          <a:xfrm>
            <a:off x="6315075" y="3929063"/>
            <a:ext cx="0" cy="121443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656A2E8-33FF-9DFA-253C-CA05E9F07A1C}"/>
              </a:ext>
            </a:extLst>
          </p:cNvPr>
          <p:cNvCxnSpPr>
            <a:cxnSpLocks/>
          </p:cNvCxnSpPr>
          <p:nvPr/>
        </p:nvCxnSpPr>
        <p:spPr>
          <a:xfrm>
            <a:off x="6972300" y="3929063"/>
            <a:ext cx="0" cy="121443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2534BE-5F46-082E-91C7-A402FE156388}"/>
              </a:ext>
            </a:extLst>
          </p:cNvPr>
          <p:cNvCxnSpPr>
            <a:cxnSpLocks/>
          </p:cNvCxnSpPr>
          <p:nvPr/>
        </p:nvCxnSpPr>
        <p:spPr>
          <a:xfrm flipH="1">
            <a:off x="6315075" y="3929063"/>
            <a:ext cx="6572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2B052DD-826C-2DFC-BDE2-F80D27D756C9}"/>
              </a:ext>
            </a:extLst>
          </p:cNvPr>
          <p:cNvCxnSpPr/>
          <p:nvPr/>
        </p:nvCxnSpPr>
        <p:spPr>
          <a:xfrm>
            <a:off x="6315075" y="5143500"/>
            <a:ext cx="657225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8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95CAA5-1F16-AB5E-C2B1-6BAC61B8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40627"/>
            <a:ext cx="4572000" cy="191796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Scale 2</a:t>
            </a:r>
            <a:b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Social Factor</a:t>
            </a:r>
            <a:b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857A8D-48A7-395E-9AE9-61CB250B5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Cronbach’s Alpha is 0.646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5 Variables used.</a:t>
            </a:r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F1F351A0-9937-751F-48A2-0ED7CDF62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011" y="640080"/>
            <a:ext cx="445628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59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C735EE-4D46-9AC7-CF9E-01515D4C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525" y="168239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ITEM STATISTICS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285F6C-6817-FE60-6DD2-B07CCA63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need to add more variables to increase Cronbach’s Alpha.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table&#10;&#10;Description automatically generated">
            <a:extLst>
              <a:ext uri="{FF2B5EF4-FFF2-40B4-BE49-F238E27FC236}">
                <a16:creationId xmlns:a16="http://schemas.microsoft.com/office/drawing/2014/main" id="{8F366561-53A1-D61A-9D8A-54C15A6F2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14609"/>
            <a:ext cx="7214616" cy="460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13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B220A2-9BF2-EFE0-DEC8-A0E70FCE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Modified Scale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9890EA-7886-9E20-7C67-0C79BBADE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Four more Variables were added.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Cronbach’s Alpha Has Increased from </a:t>
            </a:r>
            <a:r>
              <a:rPr lang="en-US" sz="2200" b="1"/>
              <a:t>0.646 to 0.685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Highest Cronbach’s Alpha we could get.</a:t>
            </a:r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6C138155-D266-55C3-C63F-5BF08FE2F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62" y="640080"/>
            <a:ext cx="507858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8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5E4807-0814-35F6-1E1B-3AC89C8B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New Variables Added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CB0FF086-05CB-AFAE-79AD-E14310EA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70636"/>
            <a:ext cx="6903720" cy="409753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E691FD-B42F-16F8-BF2A-819ACE49B8CD}"/>
              </a:ext>
            </a:extLst>
          </p:cNvPr>
          <p:cNvCxnSpPr>
            <a:cxnSpLocks/>
          </p:cNvCxnSpPr>
          <p:nvPr/>
        </p:nvCxnSpPr>
        <p:spPr>
          <a:xfrm>
            <a:off x="4829175" y="4572000"/>
            <a:ext cx="617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1D752B-0417-2A9A-3E55-5794B4495821}"/>
              </a:ext>
            </a:extLst>
          </p:cNvPr>
          <p:cNvCxnSpPr/>
          <p:nvPr/>
        </p:nvCxnSpPr>
        <p:spPr>
          <a:xfrm>
            <a:off x="4829175" y="5800725"/>
            <a:ext cx="610076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E35ED6-02C2-C6D7-96BE-61D2D1C2D0FF}"/>
              </a:ext>
            </a:extLst>
          </p:cNvPr>
          <p:cNvCxnSpPr/>
          <p:nvPr/>
        </p:nvCxnSpPr>
        <p:spPr>
          <a:xfrm>
            <a:off x="4829175" y="4572000"/>
            <a:ext cx="0" cy="12573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83BDA2-1574-4F33-4E22-164465DC7266}"/>
              </a:ext>
            </a:extLst>
          </p:cNvPr>
          <p:cNvCxnSpPr/>
          <p:nvPr/>
        </p:nvCxnSpPr>
        <p:spPr>
          <a:xfrm>
            <a:off x="10929937" y="4572000"/>
            <a:ext cx="0" cy="122872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5E18DC-1067-CD0F-6E89-AF38AC4C828A}"/>
              </a:ext>
            </a:extLst>
          </p:cNvPr>
          <p:cNvCxnSpPr>
            <a:cxnSpLocks/>
          </p:cNvCxnSpPr>
          <p:nvPr/>
        </p:nvCxnSpPr>
        <p:spPr>
          <a:xfrm>
            <a:off x="2557463" y="2771775"/>
            <a:ext cx="2096833" cy="2314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06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393BE7-DFC1-26B3-07E8-0F01F0C6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88" y="639193"/>
            <a:ext cx="3887604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ITEM STATISTICS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table with numbers and text&#10;&#10;Description automatically generated">
            <a:extLst>
              <a:ext uri="{FF2B5EF4-FFF2-40B4-BE49-F238E27FC236}">
                <a16:creationId xmlns:a16="http://schemas.microsoft.com/office/drawing/2014/main" id="{7B1FCBCA-18CF-52E0-D1C3-9B4D1E743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92216"/>
            <a:ext cx="7214616" cy="404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1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21F21-4181-3EB5-28A2-21A485CB0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NEW CONSTRUCTS </a:t>
            </a:r>
          </a:p>
        </p:txBody>
      </p:sp>
      <p:pic>
        <p:nvPicPr>
          <p:cNvPr id="16" name="Picture 15" descr="Wooden blocks stacked to create a bar graph">
            <a:extLst>
              <a:ext uri="{FF2B5EF4-FFF2-40B4-BE49-F238E27FC236}">
                <a16:creationId xmlns:a16="http://schemas.microsoft.com/office/drawing/2014/main" id="{5401AA8C-42CD-5496-B4B3-E3A9042F80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49" r="24906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9B1B-3F98-2F84-B405-0F9C706A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sz="4800" dirty="0"/>
              <a:t>Life Goals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800" dirty="0"/>
              <a:t>Fulfillment </a:t>
            </a:r>
          </a:p>
        </p:txBody>
      </p:sp>
    </p:spTree>
    <p:extLst>
      <p:ext uri="{BB962C8B-B14F-4D97-AF65-F5344CB8AC3E}">
        <p14:creationId xmlns:p14="http://schemas.microsoft.com/office/powerpoint/2010/main" val="1669381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30B7E6-10CF-BE43-F8CC-ECB20852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NEW CONSTRUCTS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5A895-D1AB-85E5-5770-BE97A733C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1.LIFE GOALS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895E7-C855-55A2-5C04-AAF21EEA59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Flow</a:t>
            </a:r>
          </a:p>
          <a:p>
            <a:r>
              <a:rPr lang="en-US" dirty="0"/>
              <a:t>Time For Passion</a:t>
            </a:r>
          </a:p>
          <a:p>
            <a:r>
              <a:rPr lang="en-US" dirty="0"/>
              <a:t>Live Vision</a:t>
            </a:r>
          </a:p>
          <a:p>
            <a:r>
              <a:rPr lang="en-US" dirty="0"/>
              <a:t>Achievement</a:t>
            </a:r>
          </a:p>
          <a:p>
            <a:r>
              <a:rPr lang="en-US" dirty="0"/>
              <a:t>To do Completed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481E99-97BB-6017-ADB1-7F1643A9C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2.FULFILMENT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050ABC-933B-55A5-2D67-FFE1FF09BA8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Places Visited</a:t>
            </a:r>
          </a:p>
          <a:p>
            <a:r>
              <a:rPr lang="en-US" dirty="0"/>
              <a:t>Core Circle</a:t>
            </a:r>
          </a:p>
          <a:p>
            <a:r>
              <a:rPr lang="en-US" dirty="0"/>
              <a:t>Supporting Others</a:t>
            </a:r>
          </a:p>
          <a:p>
            <a:r>
              <a:rPr lang="en-US" dirty="0"/>
              <a:t>Donation</a:t>
            </a:r>
          </a:p>
          <a:p>
            <a:r>
              <a:rPr lang="en-US" dirty="0"/>
              <a:t>Social Network</a:t>
            </a:r>
          </a:p>
          <a:p>
            <a:r>
              <a:rPr lang="en-US" dirty="0"/>
              <a:t>Daily Steps</a:t>
            </a:r>
          </a:p>
          <a:p>
            <a:r>
              <a:rPr lang="en-US" dirty="0"/>
              <a:t>Fruits and Veggies</a:t>
            </a:r>
          </a:p>
          <a:p>
            <a:r>
              <a:rPr lang="en-US" dirty="0"/>
              <a:t>Weekly meditation</a:t>
            </a:r>
          </a:p>
        </p:txBody>
      </p:sp>
    </p:spTree>
    <p:extLst>
      <p:ext uri="{BB962C8B-B14F-4D97-AF65-F5344CB8AC3E}">
        <p14:creationId xmlns:p14="http://schemas.microsoft.com/office/powerpoint/2010/main" val="366408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B8EB-65CE-4E87-2891-1B391254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433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173</Words>
  <Application>Microsoft Macintosh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SCALES AND RELIABILITY ANALYSIS PRESENTATION </vt:lpstr>
      <vt:lpstr>Constructs From Factor Analysis</vt:lpstr>
      <vt:lpstr>Scale 1: General Goals</vt:lpstr>
      <vt:lpstr>Item Statistics</vt:lpstr>
      <vt:lpstr>Scale 2 Social Factor </vt:lpstr>
      <vt:lpstr>ITEM STATISTICS</vt:lpstr>
      <vt:lpstr>Modified Scale</vt:lpstr>
      <vt:lpstr>New Variables Added</vt:lpstr>
      <vt:lpstr>ITEM STATISTICS</vt:lpstr>
      <vt:lpstr>NEW CONSTRUCTS </vt:lpstr>
      <vt:lpstr>NEW CONSTRUCTS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SCALES AND RELIABILITY ANALYSIS</dc:title>
  <dc:creator>Misheck  Malangano</dc:creator>
  <cp:lastModifiedBy>Misheck  Malangano</cp:lastModifiedBy>
  <cp:revision>3</cp:revision>
  <dcterms:created xsi:type="dcterms:W3CDTF">2023-10-09T21:19:22Z</dcterms:created>
  <dcterms:modified xsi:type="dcterms:W3CDTF">2023-10-11T21:02:56Z</dcterms:modified>
</cp:coreProperties>
</file>